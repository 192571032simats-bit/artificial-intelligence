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F8B9E3-2A58-458C-A174-907E18AB2985}">
  <a:tblStyle styleId="{A4F8B9E3-2A58-458C-A174-907E18AB29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ATS_MASTER">
  <p:cSld name="SIMATS_MASTER"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/home/claude/work/logo_he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6" y="36576"/>
            <a:ext cx="749808" cy="905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/home/claude/work/logo_bad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1128" y="27432"/>
            <a:ext cx="832104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B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229600" y="1280160"/>
            <a:ext cx="2834640" cy="32004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961120" y="1828800"/>
            <a:ext cx="1371600" cy="1371600"/>
          </a:xfrm>
          <a:prstGeom prst="ellipse">
            <a:avLst/>
          </a:prstGeom>
          <a:solidFill>
            <a:srgbClr val="EAF4FF"/>
          </a:solidFill>
          <a:ln w="25400" cap="flat" cmpd="sng">
            <a:solidFill>
              <a:srgbClr val="2E6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9281160" y="2194560"/>
            <a:ext cx="201168" cy="201168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9811512" y="2194560"/>
            <a:ext cx="201168" cy="201168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9326880" y="2377440"/>
            <a:ext cx="640080" cy="457200"/>
          </a:xfrm>
          <a:prstGeom prst="arc">
            <a:avLst>
              <a:gd name="adj1" fmla="val 0"/>
              <a:gd name="adj2" fmla="val 10800000"/>
            </a:avLst>
          </a:prstGeom>
          <a:noFill/>
          <a:ln w="25400" cap="flat" cmpd="sng">
            <a:solidFill>
              <a:srgbClr val="2E6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8275320" y="3017520"/>
            <a:ext cx="2743200" cy="0"/>
          </a:xfrm>
          <a:prstGeom prst="straightConnector1">
            <a:avLst/>
          </a:prstGeom>
          <a:noFill/>
          <a:ln w="31750" cap="flat" cmpd="sng">
            <a:solidFill>
              <a:srgbClr val="0FB9A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4"/>
          <p:cNvCxnSpPr/>
          <p:nvPr/>
        </p:nvCxnSpPr>
        <p:spPr>
          <a:xfrm>
            <a:off x="8229600" y="1280160"/>
            <a:ext cx="320040" cy="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4"/>
          <p:cNvCxnSpPr/>
          <p:nvPr/>
        </p:nvCxnSpPr>
        <p:spPr>
          <a:xfrm>
            <a:off x="8229600" y="1280160"/>
            <a:ext cx="0" cy="32004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28;p4"/>
          <p:cNvCxnSpPr/>
          <p:nvPr/>
        </p:nvCxnSpPr>
        <p:spPr>
          <a:xfrm rot="10800000">
            <a:off x="10744200" y="1280160"/>
            <a:ext cx="320040" cy="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4"/>
          <p:cNvCxnSpPr/>
          <p:nvPr/>
        </p:nvCxnSpPr>
        <p:spPr>
          <a:xfrm>
            <a:off x="11064240" y="1280160"/>
            <a:ext cx="0" cy="32004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4"/>
          <p:cNvCxnSpPr/>
          <p:nvPr/>
        </p:nvCxnSpPr>
        <p:spPr>
          <a:xfrm>
            <a:off x="8229600" y="4480560"/>
            <a:ext cx="320040" cy="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 rot="10800000">
            <a:off x="8229600" y="4160520"/>
            <a:ext cx="0" cy="32004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 rot="10800000">
            <a:off x="10744200" y="4480560"/>
            <a:ext cx="320040" cy="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4"/>
          <p:cNvCxnSpPr/>
          <p:nvPr/>
        </p:nvCxnSpPr>
        <p:spPr>
          <a:xfrm rot="10800000">
            <a:off x="11064240" y="4160520"/>
            <a:ext cx="0" cy="320040"/>
          </a:xfrm>
          <a:prstGeom prst="straightConnector1">
            <a:avLst/>
          </a:prstGeom>
          <a:noFill/>
          <a:ln w="317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4"/>
          <p:cNvSpPr/>
          <p:nvPr/>
        </p:nvSpPr>
        <p:spPr>
          <a:xfrm>
            <a:off x="8229600" y="45720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FACE VERIFIED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332720" y="3383280"/>
            <a:ext cx="868680" cy="868680"/>
          </a:xfrm>
          <a:prstGeom prst="roundRect">
            <a:avLst>
              <a:gd name="adj" fmla="val 52632"/>
            </a:avLst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561320" y="3776472"/>
            <a:ext cx="411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0607040" y="3566160"/>
            <a:ext cx="320040" cy="320040"/>
          </a:xfrm>
          <a:prstGeom prst="arc">
            <a:avLst>
              <a:gd name="adj1" fmla="val 10800000"/>
              <a:gd name="adj2" fmla="val 21600000"/>
            </a:avLst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22960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2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A2FF"/>
                </a:solidFill>
                <a:latin typeface="Calibri"/>
                <a:ea typeface="Calibri"/>
                <a:cs typeface="Calibri"/>
                <a:sym typeface="Calibri"/>
              </a:rPr>
              <a:t>AI CAPSTONE PROJECT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2960" y="182880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3800"/>
              <a:buFont typeface="Calibri"/>
              <a:buNone/>
            </a:pPr>
            <a:r>
              <a:rPr lang="en-US" sz="3800" b="1" i="0" u="none" strike="noStrike" cap="none" dirty="0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" y="3246120"/>
            <a:ext cx="7040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Combining Facial Recognition and Real-Time Analytics for Optimal Home Security Management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2960" y="52852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2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A2FF"/>
                </a:solidFill>
                <a:latin typeface="Calibri"/>
                <a:ea typeface="Calibri"/>
                <a:cs typeface="Calibri"/>
                <a:sym typeface="Calibri"/>
              </a:rPr>
              <a:t>GUIDED BY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" y="5559552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R. JEENA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206240" y="5285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2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A2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206240" y="5559552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 IMTHIAZ .I(192521360)</a:t>
            </a:r>
            <a:endParaRPr sz="12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S.SAKTHIVEL(192524378)</a:t>
            </a:r>
            <a:endParaRPr sz="12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ACC696-C890-E163-9B8F-7E4C314B7FEE}"/>
              </a:ext>
            </a:extLst>
          </p:cNvPr>
          <p:cNvSpPr txBox="1"/>
          <p:nvPr/>
        </p:nvSpPr>
        <p:spPr>
          <a:xfrm>
            <a:off x="2641600" y="36337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lang="en-US"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7C945-10E9-36B7-8526-734F478694C3}"/>
              </a:ext>
            </a:extLst>
          </p:cNvPr>
          <p:cNvSpPr txBox="1"/>
          <p:nvPr/>
        </p:nvSpPr>
        <p:spPr>
          <a:xfrm>
            <a:off x="1642532" y="1700706"/>
            <a:ext cx="8255001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Smart home security systems are increasingly adopting AI and IoT technologies.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Traditional keys, passwords, and RFID-based systems have limitations such as loss, theft, duplication, and unauthorized sharing.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Facial recognition provides a contactless method for identifying authorized users.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IoT enables communication between the recognition system and the physical lock.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Real-time analytics can monitor access attempts and identify suspicious activities.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This project combines </a:t>
            </a:r>
            <a:r>
              <a:rPr lang="en-IN" sz="1600" b="1" dirty="0"/>
              <a:t>AI facial recognition, hardware-based access control, and a web-based analytics system</a:t>
            </a:r>
            <a:r>
              <a:rPr lang="en-IN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25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 dirty="0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14400" y="123444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170432" y="168706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170432" y="16870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874520" y="139903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Develop an AI-based facial recognition system for authentication.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309360" y="123444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565392" y="168706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0A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565392" y="16870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269480" y="139903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Identify authorized and unauthorized users in real time.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14400" y="292608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170432" y="337870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170432" y="33787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874520" y="309067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 door locking/unlocking using ESP32 and SG90 servo.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309360" y="292608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565392" y="337870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565392" y="33787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269480" y="309067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 alerts for unauthorized access.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4400" y="46177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170432" y="507034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170432" y="50703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874520" y="478231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Record access events and timestamps.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309360" y="46177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565392" y="507034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565392" y="507034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269480" y="4782312"/>
            <a:ext cx="38862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 a web dashboard for real-time security analytics.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31520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/ Year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00400" y="12344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Focus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92240" y="1234440"/>
            <a:ext cx="496519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278F10-9BC9-FB60-EF5B-D7FB13E04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600"/>
            <a:ext cx="11292840" cy="5748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22960" y="1188720"/>
            <a:ext cx="105156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822960" y="1188720"/>
            <a:ext cx="128016" cy="5029200"/>
          </a:xfrm>
          <a:prstGeom prst="roundRect">
            <a:avLst>
              <a:gd name="adj" fmla="val 16667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234440" y="1508760"/>
            <a:ext cx="384048" cy="384048"/>
          </a:xfrm>
          <a:prstGeom prst="ellipse">
            <a:avLst/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234440" y="1508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874520" y="1453896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Traditional locks provide limited intelligent authentication.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234440" y="2267712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234440" y="22677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874520" y="2212848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Keys/passwords can be lost, stolen, shared or misused.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234440" y="3026664"/>
            <a:ext cx="384048" cy="384048"/>
          </a:xfrm>
          <a:prstGeom prst="ellipse">
            <a:avLst/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234440" y="3026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874520" y="2971800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Unauthorized access may not be monitored continuously.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234440" y="3785616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234440" y="37856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874520" y="3730752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Existing systems may lack detailed real-time analytics.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234440" y="4544568"/>
            <a:ext cx="384048" cy="384048"/>
          </a:xfrm>
          <a:prstGeom prst="ellipse">
            <a:avLst/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234440" y="4544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874520" y="4489704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Homeowners need centralized access history and security monitoring.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5303520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234440" y="5303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874520" y="5248656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 integrated AI + IoT + Web solution is required.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40080" y="118872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94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□"/>
            </a:pPr>
            <a:r>
              <a:rPr lang="en-US" sz="15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 AI-integrated smart lock platform is proposed to help users: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60120" y="178308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Authenticate users instantly through facial recognition.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60120" y="2185416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Automatically lock or unlock the door based on the AI decision.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60120" y="2587752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Alert instantly on unauthorized access attempts.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60120" y="2990088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 every access event with a precise timestamp.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60120" y="3392424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Notify the admin dashboard in real time.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60120" y="379476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Char char="□"/>
            </a:pPr>
            <a:r>
              <a:rPr lang="en-US" sz="13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Display live security analytics for monitoring.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40080" y="50749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None/>
            </a:pPr>
            <a:r>
              <a:rPr lang="en-US" sz="1450" b="0" i="0" u="sng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Implementation: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13232" y="5394960"/>
            <a:ext cx="62362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◆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Hardware: ESP32, ESP32-CAM, SG90 Servo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13232" y="5724144"/>
            <a:ext cx="62362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◆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AI: Python + OpenCV (Facial Recognition)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13232" y="6053328"/>
            <a:ext cx="62362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◆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Web: HTML, CSS, JavaScript, Flask, SQLite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360920" y="1307592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F9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F91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360920" y="1691640"/>
            <a:ext cx="713232" cy="71323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532096" y="1948404"/>
            <a:ext cx="370881" cy="228234"/>
          </a:xfrm>
          <a:prstGeom prst="roundRect">
            <a:avLst>
              <a:gd name="adj" fmla="val 120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7653345" y="1862816"/>
            <a:ext cx="128382" cy="71323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646213" y="1976933"/>
            <a:ext cx="142646" cy="142646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286625" y="2478024"/>
            <a:ext cx="86182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Face Capture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286625" y="2697480"/>
            <a:ext cx="86182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ESP32-CAM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066151" y="1979676"/>
            <a:ext cx="128016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4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8222742" y="1691640"/>
            <a:ext cx="713232" cy="71323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386785" y="1855683"/>
            <a:ext cx="385145" cy="385145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8486638" y="1998330"/>
            <a:ext cx="49926" cy="4992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622152" y="1998330"/>
            <a:ext cx="49926" cy="4992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500902" y="2062521"/>
            <a:ext cx="156911" cy="114117"/>
          </a:xfrm>
          <a:prstGeom prst="arc">
            <a:avLst>
              <a:gd name="adj1" fmla="val 0"/>
              <a:gd name="adj2" fmla="val 1080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148447" y="2478024"/>
            <a:ext cx="86182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AI Match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148447" y="2697480"/>
            <a:ext cx="86182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927973" y="1979676"/>
            <a:ext cx="128016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4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9084564" y="1691640"/>
            <a:ext cx="713232" cy="71323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9084564" y="169164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84"/>
              <a:buFont typeface="Calibri"/>
              <a:buNone/>
            </a:pPr>
            <a:r>
              <a:rPr lang="en-US" sz="2184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1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010269" y="2478024"/>
            <a:ext cx="86182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9010269" y="2697480"/>
            <a:ext cx="86182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Grant/Deny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789795" y="1979676"/>
            <a:ext cx="128016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4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9946386" y="1691640"/>
            <a:ext cx="713232" cy="71323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167488" y="2041124"/>
            <a:ext cx="271028" cy="185440"/>
          </a:xfrm>
          <a:prstGeom prst="roundRect">
            <a:avLst>
              <a:gd name="adj" fmla="val 986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0210282" y="1891345"/>
            <a:ext cx="185440" cy="185440"/>
          </a:xfrm>
          <a:prstGeom prst="arc">
            <a:avLst>
              <a:gd name="adj1" fmla="val 10800000"/>
              <a:gd name="adj2" fmla="val 21600000"/>
            </a:avLst>
          </a:prstGeom>
          <a:noFill/>
          <a:ln w="349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9872091" y="2478024"/>
            <a:ext cx="86182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Lock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872091" y="2697480"/>
            <a:ext cx="86182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SG90 Servo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651617" y="1979676"/>
            <a:ext cx="128016" cy="13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4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0808208" y="1691640"/>
            <a:ext cx="713232" cy="71323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1025744" y="2048256"/>
            <a:ext cx="64191" cy="1141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1132729" y="1962668"/>
            <a:ext cx="64191" cy="199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1239713" y="2005462"/>
            <a:ext cx="64191" cy="1569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733913" y="2478024"/>
            <a:ext cx="86182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733913" y="2697480"/>
            <a:ext cx="86182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Logged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60920" y="32461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AF1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7589520" y="3383280"/>
            <a:ext cx="37033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95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8495E"/>
                </a:solidFill>
                <a:latin typeface="Calibri"/>
                <a:ea typeface="Calibri"/>
                <a:cs typeface="Calibri"/>
                <a:sym typeface="Calibri"/>
              </a:rPr>
              <a:t>The workflow begins with a face scan captured by the ESP32-CAM. The AI module matches the face and issues a grant or deny decision, which drives the servo lock and instantly updates the security dashboard.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COMPONENTS USED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9"/>
          <p:cNvGraphicFramePr/>
          <p:nvPr/>
        </p:nvGraphicFramePr>
        <p:xfrm>
          <a:off x="1280160" y="1188720"/>
          <a:ext cx="9628650" cy="5166450"/>
        </p:xfrm>
        <a:graphic>
          <a:graphicData uri="http://schemas.openxmlformats.org/drawingml/2006/table">
            <a:tbl>
              <a:tblPr>
                <a:noFill/>
                <a:tableStyleId>{A4F8B9E3-2A58-458C-A174-907E18AB2985}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ESP32-CAM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Captures face for facial recognition.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DevKit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controller and communication.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SG90 Servo Motor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Lock/unlock mechanism.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Buzzer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Unauthorized access alert.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I2C Display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Displays system/access status.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LED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 / unauthorized indication.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LED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Authorized / unlocked indication.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Breadboard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Circuit prototyping.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Jumper Wires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 connections.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4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0B24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5V Power Supply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Powers the circuit.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3E9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9" name="Google Shape;179;p9"/>
          <p:cNvSpPr/>
          <p:nvPr/>
        </p:nvSpPr>
        <p:spPr>
          <a:xfrm>
            <a:off x="1280160" y="1188720"/>
            <a:ext cx="9628632" cy="45720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1280160" y="11887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0" y="1188720"/>
            <a:ext cx="63367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907128" y="1234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907128" y="12344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ESP32-CAM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995264" y="1810512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907128" y="202996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907128" y="202996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Facial Recognition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995264" y="2606040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632808" y="282549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632808" y="2825496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 Decision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895448" y="349300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2895448" y="34930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983584" y="3922776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2895448" y="4069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9F9EF"/>
          </a:solidFill>
          <a:ln w="1587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2895448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983584" y="4498848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2895448" y="464515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9F9EF"/>
          </a:solidFill>
          <a:ln w="1587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2895448" y="46451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SG90 Servo → Unlock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3983584" y="5074920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2895448" y="522122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9F9EF"/>
          </a:solidFill>
          <a:ln w="15875" cap="flat" cmpd="sng">
            <a:solidFill>
              <a:srgbClr val="2ECC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2895448" y="522122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7A3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7A3D"/>
                </a:solidFill>
                <a:latin typeface="Calibri"/>
                <a:ea typeface="Calibri"/>
                <a:cs typeface="Calibri"/>
                <a:sym typeface="Calibri"/>
              </a:rPr>
              <a:t>Green LED + I2C Display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918808" y="349300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918808" y="34930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UNAUTHORIZED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006944" y="3922776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918808" y="4069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DEBE8"/>
          </a:solidFill>
          <a:ln w="15875" cap="flat" cmpd="sng">
            <a:solidFill>
              <a:srgbClr val="E152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918808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2E1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A32E1F"/>
                </a:solidFill>
                <a:latin typeface="Calibri"/>
                <a:ea typeface="Calibri"/>
                <a:cs typeface="Calibri"/>
                <a:sym typeface="Calibri"/>
              </a:rPr>
              <a:t>Access Denied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006944" y="4498848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918808" y="464515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DEBE8"/>
          </a:solidFill>
          <a:ln w="15875" cap="flat" cmpd="sng">
            <a:solidFill>
              <a:srgbClr val="E152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918808" y="46451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2E1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A32E1F"/>
                </a:solidFill>
                <a:latin typeface="Calibri"/>
                <a:ea typeface="Calibri"/>
                <a:cs typeface="Calibri"/>
                <a:sym typeface="Calibri"/>
              </a:rPr>
              <a:t>Buzzer + Red LED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8006944" y="5074920"/>
            <a:ext cx="201168" cy="1645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918808" y="522122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DEBE8"/>
          </a:solidFill>
          <a:ln w="15875" cap="flat" cmpd="sng">
            <a:solidFill>
              <a:srgbClr val="E152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918808" y="522122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2E1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A32E1F"/>
                </a:solidFill>
                <a:latin typeface="Calibri"/>
                <a:ea typeface="Calibri"/>
                <a:cs typeface="Calibri"/>
                <a:sym typeface="Calibri"/>
              </a:rPr>
              <a:t>Remains Locked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358488" y="5833872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358488" y="5833872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→ Web Application → Real-Time Analytics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MODULES OVERVIEW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96316" y="1188720"/>
            <a:ext cx="3429000" cy="507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96316" y="118872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96316" y="1600200"/>
            <a:ext cx="3429000" cy="411480"/>
          </a:xfrm>
          <a:prstGeom prst="rect">
            <a:avLst/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96316" y="129844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833476" y="1572768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AI-Based Facial Recognition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988924" y="228600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Face capture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Face detection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Face matching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381348" y="1188720"/>
            <a:ext cx="3429000" cy="507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381348" y="118872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4381348" y="1600200"/>
            <a:ext cx="3429000" cy="411480"/>
          </a:xfrm>
          <a:prstGeom prst="rect">
            <a:avLst/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381348" y="129844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18508" y="1572768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Lock &amp; Access Control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673956" y="228600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Servo locking / unlocking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I2C Display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Buzzer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066380" y="1188720"/>
            <a:ext cx="3429000" cy="507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066380" y="118872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8066380" y="1600200"/>
            <a:ext cx="342900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066380" y="129844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203540" y="1572768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Security Analytics &amp; Web App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358988" y="2286000"/>
            <a:ext cx="2880360" cy="379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Access logging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Access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Security analytics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3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▪"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Unauthorized-attempt monitoring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MODULE 1: AI-BASED FACIAL RECOGNITION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118872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896112" y="1536192"/>
            <a:ext cx="596188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authenticate users in real time by matching a captured face against registered facial data.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96112" y="213055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eliminate reliance on physical keys or passwords for entry.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96112" y="2487168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ensure only verified individuals gain access to the property.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40080" y="2990088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Functions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896112" y="3337560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Capture the user's face using the ESP32-CAM.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896112" y="3694176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Detect and align the facial region.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896112" y="405079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Extract unique facial features.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896112" y="4407408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Match features against stored records.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896112" y="4764024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Confirm or reject the authentication request.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81812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F9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F91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7818120" y="16002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7818120" y="160020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Face Capture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9518904" y="2157984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818120" y="2478024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7818120" y="247802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Face Detection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518904" y="3035808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7818120" y="3355848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7818120" y="335584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9518904" y="3913632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7818120" y="4233672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818120" y="423367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Face Matching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518904" y="4791456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818120" y="5111496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818120" y="51114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MODULE 2: SMART LOCK &amp; ACCESS CONTROL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40080" y="118872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96112" y="1536192"/>
            <a:ext cx="596188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convert the AI's authentication decision into a physical locking or unlocking action.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96112" y="2130552"/>
            <a:ext cx="596188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provide instant visual and audio feedback on every access attempt.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896112" y="272491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maintain a secure, fail-safe locked state by default.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40080" y="3227832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Functions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896112" y="3575304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Receive the authentication decision from the AI module.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96112" y="3931920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Drive the SG90 servo to lock or unlock the door.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96112" y="4288536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Trigger the Green or Red LED indicator.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96112" y="464515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Sound the buzzer on denied access.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96112" y="5001768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Update the access status on the I2C display.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81812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F9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F91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818120" y="16002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7818120" y="160020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Decision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9518904" y="2157984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7818120" y="2478024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7818120" y="247802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 Controller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9518904" y="3035808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7818120" y="3355848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7818120" y="335584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Servo Actuation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9518904" y="3913632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7818120" y="4233672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7818120" y="423367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LED &amp; Buzzer Signal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9518904" y="4791456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818120" y="5111496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7818120" y="51114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I2C Display Update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MODULE 3: REAL-TIME SECURITY ANALYTICS &amp; WEB APP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0080" y="1188720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896112" y="1536192"/>
            <a:ext cx="596188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record every access event and present real-time security analytics.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896112" y="2130552"/>
            <a:ext cx="5961888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give homeowners centralized visibility into who accessed the property and when.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896112" y="272491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 support quick identification of unauthorized access patterns.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640080" y="3227832"/>
            <a:ext cx="6217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 Functions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96112" y="3575304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 every access attempt with a timestamp.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896112" y="3931920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Store records in the backend database.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896112" y="4288536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Render live dashboard statistics.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896112" y="4645152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Track unauthorized access attempts.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96112" y="5001768"/>
            <a:ext cx="596188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▪"/>
            </a:pPr>
            <a:r>
              <a:rPr lang="en-US" sz="12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Display access history and security trends.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81812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F9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B4F91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7818120" y="160020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7818120" y="160020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Event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9518904" y="2157984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7818120" y="2478024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7818120" y="247802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Backend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9518904" y="3035808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7818120" y="3355848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7818120" y="335584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Database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518904" y="3913632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7818120" y="4233672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818120" y="4233672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Rendering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9518904" y="4791456"/>
            <a:ext cx="256032" cy="2926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9E8F5"/>
          </a:solidFill>
          <a:ln w="12700" cap="flat" cmpd="sng">
            <a:solidFill>
              <a:srgbClr val="8E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7818120" y="5111496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8B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7818120" y="51114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Analytics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696316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2154784" y="1490472"/>
            <a:ext cx="512064" cy="512064"/>
          </a:xfrm>
          <a:prstGeom prst="ellipse">
            <a:avLst/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2154784" y="14904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833476" y="2075688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Enhanced security through facial authentication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381348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5839816" y="1490472"/>
            <a:ext cx="512064" cy="512064"/>
          </a:xfrm>
          <a:prstGeom prst="ellipse">
            <a:avLst/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5839816" y="14904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518508" y="2075688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Contactless identification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066380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9524848" y="1490472"/>
            <a:ext cx="512064" cy="51206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9524848" y="14904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8203540" y="2075688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access decisions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696316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2154784" y="3163824"/>
            <a:ext cx="512064" cy="512064"/>
          </a:xfrm>
          <a:prstGeom prst="ellipse">
            <a:avLst/>
          </a:prstGeom>
          <a:solidFill>
            <a:srgbClr val="00A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2154784" y="316382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833476" y="37490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Unauthorized-access alerts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381348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839816" y="3163824"/>
            <a:ext cx="512064" cy="51206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839816" y="316382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518508" y="37490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Centralized security analytics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8066380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9524848" y="3163824"/>
            <a:ext cx="512064" cy="512064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524848" y="316382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203540" y="3749040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Automatic access history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96316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154784" y="4837176"/>
            <a:ext cx="512064" cy="512064"/>
          </a:xfrm>
          <a:prstGeom prst="ellipse">
            <a:avLst/>
          </a:prstGeom>
          <a:solidFill>
            <a:srgbClr val="E152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2154784" y="483717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33476" y="5422392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Web-based monitoring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381348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5839816" y="4837176"/>
            <a:ext cx="512064" cy="512064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5839816" y="483717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18508" y="5422392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Low-cost prototype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8066380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9524848" y="4837176"/>
            <a:ext cx="512064" cy="512064"/>
          </a:xfrm>
          <a:prstGeom prst="ellipse">
            <a:avLst/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524848" y="483717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203540" y="5422392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+ IoT + Web integration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96316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879196" y="18150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879196" y="18150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473556" y="146304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Multi-factor 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381348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564228" y="18150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4564228" y="18150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158588" y="146304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Liveness detection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8066380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8249260" y="18150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8249260" y="18150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8843620" y="146304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Cloud monitoring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96316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879196" y="348843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879196" y="34884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473556" y="3136392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Mobile application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381348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4564228" y="348843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4564228" y="34884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158588" y="3136392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ML-based anomaly detection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8066380" y="2999232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8249260" y="348843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8249260" y="34884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8843620" y="3136392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Edge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696316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879196" y="516178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879196" y="51617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473556" y="4809744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Encrypted biometric storage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381348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564228" y="516178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4564228" y="51617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158588" y="4809744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Smart-home integration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066380" y="4672584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F"/>
          </a:solidFill>
          <a:ln w="15875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8249260" y="516178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8249260" y="51617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8843620" y="4809744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Voice security alerts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822960" y="1234440"/>
            <a:ext cx="105156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1234440" y="16002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1234440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1874520" y="1545336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Combines AI facial recognition, IoT hardware and web analytics.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234440" y="23591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1234440" y="2359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1874520" y="2304288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Provides automated contactless authentication.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1234440" y="31181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1234440" y="31181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1874520" y="3063240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ESP32 + SG90 provide physical access control.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1234440" y="38770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1234440" y="3877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874520" y="3822192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LEDs, buzzer and I2C display provide immediate feedback.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1234440" y="463600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1234440" y="46360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1874520" y="4581144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 dashboard provides real-time monitoring and access history.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1234440" y="53949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B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1234440" y="5394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1874520" y="5340096"/>
            <a:ext cx="9052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Provides a low-cost prototype for intelligent home security.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"/>
          <p:cNvSpPr/>
          <p:nvPr/>
        </p:nvSpPr>
        <p:spPr>
          <a:xfrm>
            <a:off x="914400" y="25603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822960" y="1234440"/>
            <a:ext cx="105156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 cap="flat" cmpd="sng">
            <a:solidFill>
              <a:srgbClr val="E3E9F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223A5E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1188720" y="155448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[1] A. Khan et al., “A Comprehensive Systematic Review of Access Control in IoT: Requirements, Technologies, and Evaluation Metrics,” IEEE Access, 2023.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1188720" y="237744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[2] Y. Mi et al., “Privacy-Preserving Facial Recognition Using Trainable Feature Subtraction,” 2024.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1188720" y="320040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[3] A. Raj, M. Marimuthu, and K. Lekshmi, “Smart Home Face Recognition: A Lightweight Approach for Real-Time Access Control,” 2025.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1188720" y="402336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[4] M. S. Zoha et al., “The Development of IoT Based Smart Door Lock and Fire Alert System Using Facial Recognition,” 2025.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188720" y="484632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[5] S. Thatikonda and S. Sandhya Rani, “Smart Home Surveillance, Monitoring, and Automation with Real-Time Alerts via Raspberry Pi,” 2025.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175004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9144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AI-Powered Smart Lock 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"/>
          <p:cNvSpPr/>
          <p:nvPr/>
        </p:nvSpPr>
        <p:spPr>
          <a:xfrm>
            <a:off x="8686800" y="2377440"/>
            <a:ext cx="2011680" cy="2011680"/>
          </a:xfrm>
          <a:prstGeom prst="ellipse">
            <a:avLst/>
          </a:prstGeom>
          <a:solidFill>
            <a:srgbClr val="16324F"/>
          </a:solidFill>
          <a:ln w="1905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9189720" y="2971800"/>
            <a:ext cx="1005840" cy="868680"/>
          </a:xfrm>
          <a:prstGeom prst="roundRect">
            <a:avLst>
              <a:gd name="adj" fmla="val 52632"/>
            </a:avLst>
          </a:prstGeom>
          <a:solidFill>
            <a:srgbClr val="00A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9400032" y="3337560"/>
            <a:ext cx="585216" cy="384048"/>
          </a:xfrm>
          <a:prstGeom prst="roundRect">
            <a:avLst>
              <a:gd name="adj" fmla="val 14286"/>
            </a:avLst>
          </a:prstGeom>
          <a:solidFill>
            <a:srgbClr val="0B24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9464040" y="2697480"/>
            <a:ext cx="457200" cy="457200"/>
          </a:xfrm>
          <a:prstGeom prst="arc">
            <a:avLst>
              <a:gd name="adj1" fmla="val 10800000"/>
              <a:gd name="adj2" fmla="val 21600000"/>
            </a:avLst>
          </a:prstGeom>
          <a:noFill/>
          <a:ln w="50800" cap="flat" cmpd="sng">
            <a:solidFill>
              <a:srgbClr val="0B24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822960" y="265176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22960" y="36118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2FF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A2FF"/>
                </a:solidFill>
                <a:latin typeface="Calibri"/>
                <a:ea typeface="Calibri"/>
                <a:cs typeface="Calibri"/>
                <a:sym typeface="Calibri"/>
              </a:rPr>
              <a:t>Questions &amp; Answers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9"/>
          <p:cNvCxnSpPr/>
          <p:nvPr/>
        </p:nvCxnSpPr>
        <p:spPr>
          <a:xfrm>
            <a:off x="868680" y="25146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00A2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1215</Words>
  <Application>Microsoft Office PowerPoint</Application>
  <PresentationFormat>Widescreen</PresentationFormat>
  <Paragraphs>286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MD Imthiaz I</cp:lastModifiedBy>
  <cp:revision>2</cp:revision>
  <dcterms:modified xsi:type="dcterms:W3CDTF">2026-08-07T00:14:32Z</dcterms:modified>
</cp:coreProperties>
</file>